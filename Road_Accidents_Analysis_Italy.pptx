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3A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989411-AEDE-4CEF-9A81-2FDDAA5EE322}" v="6" dt="2026-10-16T17:04:26.8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8" d="100"/>
          <a:sy n="138" d="100"/>
        </p:scale>
        <p:origin x="114"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e Riccio" userId="835b61f9-c8ba-45b6-8e89-37ae85f56aba" providerId="ADAL" clId="{925DC0A8-100D-4BC1-AB62-025CE3EF00A7}"/>
    <pc:docChg chg="custSel modSld">
      <pc:chgData name="Simone Riccio" userId="835b61f9-c8ba-45b6-8e89-37ae85f56aba" providerId="ADAL" clId="{925DC0A8-100D-4BC1-AB62-025CE3EF00A7}" dt="2026-10-17T16:25:35.227" v="605" actId="20577"/>
      <pc:docMkLst>
        <pc:docMk/>
      </pc:docMkLst>
      <pc:sldChg chg="addSp delSp modSp mod setBg">
        <pc:chgData name="Simone Riccio" userId="835b61f9-c8ba-45b6-8e89-37ae85f56aba" providerId="ADAL" clId="{925DC0A8-100D-4BC1-AB62-025CE3EF00A7}" dt="2026-10-16T17:05:14.806" v="20" actId="207"/>
        <pc:sldMkLst>
          <pc:docMk/>
          <pc:sldMk cId="0" sldId="256"/>
        </pc:sldMkLst>
        <pc:spChg chg="mod">
          <ac:chgData name="Simone Riccio" userId="835b61f9-c8ba-45b6-8e89-37ae85f56aba" providerId="ADAL" clId="{925DC0A8-100D-4BC1-AB62-025CE3EF00A7}" dt="2026-10-16T17:04:45.686" v="18" actId="207"/>
          <ac:spMkLst>
            <pc:docMk/>
            <pc:sldMk cId="0" sldId="256"/>
            <ac:spMk id="2" creationId="{00000000-0000-0000-0000-000000000000}"/>
          </ac:spMkLst>
        </pc:spChg>
        <pc:spChg chg="mod">
          <ac:chgData name="Simone Riccio" userId="835b61f9-c8ba-45b6-8e89-37ae85f56aba" providerId="ADAL" clId="{925DC0A8-100D-4BC1-AB62-025CE3EF00A7}" dt="2026-10-16T17:05:03.698" v="19" actId="207"/>
          <ac:spMkLst>
            <pc:docMk/>
            <pc:sldMk cId="0" sldId="256"/>
            <ac:spMk id="3" creationId="{00000000-0000-0000-0000-000000000000}"/>
          </ac:spMkLst>
        </pc:spChg>
        <pc:spChg chg="mod">
          <ac:chgData name="Simone Riccio" userId="835b61f9-c8ba-45b6-8e89-37ae85f56aba" providerId="ADAL" clId="{925DC0A8-100D-4BC1-AB62-025CE3EF00A7}" dt="2026-10-16T17:05:14.806" v="20" actId="207"/>
          <ac:spMkLst>
            <pc:docMk/>
            <pc:sldMk cId="0" sldId="256"/>
            <ac:spMk id="4" creationId="{00000000-0000-0000-0000-000000000000}"/>
          </ac:spMkLst>
        </pc:spChg>
        <pc:spChg chg="add del mod">
          <ac:chgData name="Simone Riccio" userId="835b61f9-c8ba-45b6-8e89-37ae85f56aba" providerId="ADAL" clId="{925DC0A8-100D-4BC1-AB62-025CE3EF00A7}" dt="2026-10-16T17:04:17.657" v="14"/>
          <ac:spMkLst>
            <pc:docMk/>
            <pc:sldMk cId="0" sldId="256"/>
            <ac:spMk id="5" creationId="{FA40FFEB-535C-344C-6909-27222D927E66}"/>
          </ac:spMkLst>
        </pc:spChg>
        <pc:spChg chg="add del mod">
          <ac:chgData name="Simone Riccio" userId="835b61f9-c8ba-45b6-8e89-37ae85f56aba" providerId="ADAL" clId="{925DC0A8-100D-4BC1-AB62-025CE3EF00A7}" dt="2026-10-16T17:04:18.872" v="17"/>
          <ac:spMkLst>
            <pc:docMk/>
            <pc:sldMk cId="0" sldId="256"/>
            <ac:spMk id="6" creationId="{807F6E71-7E51-24BE-37E8-79FC7511C82E}"/>
          </ac:spMkLst>
        </pc:spChg>
      </pc:sldChg>
      <pc:sldChg chg="modSp mod">
        <pc:chgData name="Simone Riccio" userId="835b61f9-c8ba-45b6-8e89-37ae85f56aba" providerId="ADAL" clId="{925DC0A8-100D-4BC1-AB62-025CE3EF00A7}" dt="2026-10-17T16:25:05.727" v="591" actId="20577"/>
        <pc:sldMkLst>
          <pc:docMk/>
          <pc:sldMk cId="0" sldId="257"/>
        </pc:sldMkLst>
        <pc:spChg chg="mod">
          <ac:chgData name="Simone Riccio" userId="835b61f9-c8ba-45b6-8e89-37ae85f56aba" providerId="ADAL" clId="{925DC0A8-100D-4BC1-AB62-025CE3EF00A7}" dt="2026-10-17T16:25:05.727" v="591" actId="20577"/>
          <ac:spMkLst>
            <pc:docMk/>
            <pc:sldMk cId="0" sldId="257"/>
            <ac:spMk id="3" creationId="{00000000-0000-0000-0000-000000000000}"/>
          </ac:spMkLst>
        </pc:spChg>
      </pc:sldChg>
      <pc:sldChg chg="modSp mod">
        <pc:chgData name="Simone Riccio" userId="835b61f9-c8ba-45b6-8e89-37ae85f56aba" providerId="ADAL" clId="{925DC0A8-100D-4BC1-AB62-025CE3EF00A7}" dt="2026-10-17T16:25:35.227" v="605" actId="20577"/>
        <pc:sldMkLst>
          <pc:docMk/>
          <pc:sldMk cId="0" sldId="259"/>
        </pc:sldMkLst>
        <pc:spChg chg="mod">
          <ac:chgData name="Simone Riccio" userId="835b61f9-c8ba-45b6-8e89-37ae85f56aba" providerId="ADAL" clId="{925DC0A8-100D-4BC1-AB62-025CE3EF00A7}" dt="2026-10-17T16:25:35.227" v="605" actId="20577"/>
          <ac:spMkLst>
            <pc:docMk/>
            <pc:sldMk cId="0" sldId="259"/>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200" b="0" i="0" u="none" strike="noStrike">
                <a:solidFill>
                  <a:srgbClr val="222222"/>
                </a:solidFill>
                <a:latin typeface="+mn-lt"/>
              </a:defRPr>
            </a:pPr>
            <a:r>
              <a:rPr lang="en-US" sz="1200" b="0" i="0" u="none" strike="noStrike">
                <a:solidFill>
                  <a:srgbClr val="222222"/>
                </a:solidFill>
                <a:latin typeface="+mn-lt"/>
              </a:rPr>
              <a:t>Accidents and severity by area (2022-2023)</a:t>
            </a:r>
          </a:p>
        </c:rich>
      </c:tx>
      <c:overlay val="0"/>
    </c:title>
    <c:autoTitleDeleted val="0"/>
    <c:plotArea>
      <c:layout/>
      <c:barChart>
        <c:barDir val="col"/>
        <c:grouping val="clustered"/>
        <c:varyColors val="0"/>
        <c:ser>
          <c:idx val="0"/>
          <c:order val="0"/>
          <c:tx>
            <c:strRef>
              <c:f>Sheet1!$B$1</c:f>
              <c:strCache>
                <c:ptCount val="1"/>
                <c:pt idx="0">
                  <c:v>Accidents per 1,000 inhabitants</c:v>
                </c:pt>
              </c:strCache>
            </c:strRef>
          </c:tx>
          <c:spPr>
            <a:solidFill>
              <a:srgbClr val="1F3A5F"/>
            </a:solidFill>
            <a:effectLst/>
          </c:spPr>
          <c:invertIfNegative val="0"/>
          <c:dLbls>
            <c:numFmt formatCode="0.00" sourceLinked="0"/>
            <c:spPr>
              <a:noFill/>
              <a:ln>
                <a:noFill/>
              </a:ln>
              <a:effectLst/>
            </c:spPr>
            <c:txPr>
              <a:bodyPr/>
              <a:lstStyle/>
              <a:p>
                <a:pPr>
                  <a:defRPr sz="900" b="0" i="0" u="none" strike="noStrike">
                    <a:solidFill>
                      <a:srgbClr val="222222"/>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North-West</c:v>
                </c:pt>
                <c:pt idx="1">
                  <c:v>North-East</c:v>
                </c:pt>
                <c:pt idx="2">
                  <c:v>Centre</c:v>
                </c:pt>
                <c:pt idx="3">
                  <c:v>South</c:v>
                </c:pt>
                <c:pt idx="4">
                  <c:v>Islands</c:v>
                </c:pt>
              </c:strCache>
            </c:strRef>
          </c:cat>
          <c:val>
            <c:numRef>
              <c:f>Sheet1!$B$2:$B$6</c:f>
              <c:numCache>
                <c:formatCode>General</c:formatCode>
                <c:ptCount val="5"/>
                <c:pt idx="0">
                  <c:v>2.96</c:v>
                </c:pt>
                <c:pt idx="1">
                  <c:v>3.11</c:v>
                </c:pt>
                <c:pt idx="2">
                  <c:v>3.62</c:v>
                </c:pt>
                <c:pt idx="3">
                  <c:v>1.99</c:v>
                </c:pt>
                <c:pt idx="4">
                  <c:v>2.2000000000000002</c:v>
                </c:pt>
              </c:numCache>
            </c:numRef>
          </c:val>
          <c:extLst>
            <c:ext xmlns:c16="http://schemas.microsoft.com/office/drawing/2014/chart" uri="{C3380CC4-5D6E-409C-BE32-E72D297353CC}">
              <c16:uniqueId val="{00000000-2161-40EA-8F7C-A030F45F730B}"/>
            </c:ext>
          </c:extLst>
        </c:ser>
        <c:ser>
          <c:idx val="1"/>
          <c:order val="1"/>
          <c:tx>
            <c:strRef>
              <c:f>Sheet1!$C$1</c:f>
              <c:strCache>
                <c:ptCount val="1"/>
                <c:pt idx="0">
                  <c:v>Deaths per 100 accidents</c:v>
                </c:pt>
              </c:strCache>
            </c:strRef>
          </c:tx>
          <c:spPr>
            <a:solidFill>
              <a:srgbClr val="B03A2E"/>
            </a:solidFill>
            <a:effectLst/>
          </c:spPr>
          <c:invertIfNegative val="0"/>
          <c:dLbls>
            <c:numFmt formatCode="0.00" sourceLinked="0"/>
            <c:spPr>
              <a:noFill/>
              <a:ln>
                <a:noFill/>
              </a:ln>
              <a:effectLst/>
            </c:spPr>
            <c:txPr>
              <a:bodyPr/>
              <a:lstStyle/>
              <a:p>
                <a:pPr>
                  <a:defRPr sz="900" b="0" i="0" u="none" strike="noStrike">
                    <a:solidFill>
                      <a:srgbClr val="222222"/>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North-West</c:v>
                </c:pt>
                <c:pt idx="1">
                  <c:v>North-East</c:v>
                </c:pt>
                <c:pt idx="2">
                  <c:v>Centre</c:v>
                </c:pt>
                <c:pt idx="3">
                  <c:v>South</c:v>
                </c:pt>
                <c:pt idx="4">
                  <c:v>Islands</c:v>
                </c:pt>
              </c:strCache>
            </c:strRef>
          </c:cat>
          <c:val>
            <c:numRef>
              <c:f>Sheet1!$C$2:$C$6</c:f>
              <c:numCache>
                <c:formatCode>General</c:formatCode>
                <c:ptCount val="5"/>
                <c:pt idx="0">
                  <c:v>1.41</c:v>
                </c:pt>
                <c:pt idx="1">
                  <c:v>2.06</c:v>
                </c:pt>
                <c:pt idx="2">
                  <c:v>1.64</c:v>
                </c:pt>
                <c:pt idx="3">
                  <c:v>2.4700000000000002</c:v>
                </c:pt>
                <c:pt idx="4">
                  <c:v>2.42</c:v>
                </c:pt>
              </c:numCache>
            </c:numRef>
          </c:val>
          <c:extLst>
            <c:ext xmlns:c16="http://schemas.microsoft.com/office/drawing/2014/chart" uri="{C3380CC4-5D6E-409C-BE32-E72D297353CC}">
              <c16:uniqueId val="{00000001-2161-40EA-8F7C-A030F45F730B}"/>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222"/>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66666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200" b="0" i="0" u="none" strike="noStrike">
                <a:solidFill>
                  <a:srgbClr val="222222"/>
                </a:solidFill>
                <a:latin typeface="+mn-lt"/>
              </a:defRPr>
            </a:pPr>
            <a:r>
              <a:rPr lang="en-US" sz="1200" b="0" i="0" u="none" strike="noStrike">
                <a:solidFill>
                  <a:srgbClr val="222222"/>
                </a:solidFill>
                <a:latin typeface="+mn-lt"/>
              </a:rPr>
              <a:t>The 4 clusters (median values)</a:t>
            </a:r>
          </a:p>
        </c:rich>
      </c:tx>
      <c:overlay val="0"/>
    </c:title>
    <c:autoTitleDeleted val="0"/>
    <c:plotArea>
      <c:layout/>
      <c:barChart>
        <c:barDir val="col"/>
        <c:grouping val="clustered"/>
        <c:varyColors val="0"/>
        <c:ser>
          <c:idx val="0"/>
          <c:order val="0"/>
          <c:tx>
            <c:strRef>
              <c:f>Sheet1!$B$1</c:f>
              <c:strCache>
                <c:ptCount val="1"/>
                <c:pt idx="0">
                  <c:v>Accidents per 1,000 inhabitants</c:v>
                </c:pt>
              </c:strCache>
            </c:strRef>
          </c:tx>
          <c:spPr>
            <a:solidFill>
              <a:srgbClr val="1F3A5F"/>
            </a:solidFill>
            <a:effectLst/>
          </c:spPr>
          <c:invertIfNegative val="0"/>
          <c:dLbls>
            <c:numFmt formatCode="0.00" sourceLinked="0"/>
            <c:spPr>
              <a:noFill/>
              <a:ln>
                <a:noFill/>
              </a:ln>
              <a:effectLst/>
            </c:spPr>
            <c:txPr>
              <a:bodyPr/>
              <a:lstStyle/>
              <a:p>
                <a:pPr>
                  <a:defRPr sz="900" b="0" i="0" u="none" strike="noStrike">
                    <a:solidFill>
                      <a:srgbClr val="222222"/>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Dense urban</c:v>
                </c:pt>
                <c:pt idx="1">
                  <c:v>High accident rate</c:v>
                </c:pt>
                <c:pt idx="2">
                  <c:v>High severity</c:v>
                </c:pt>
                <c:pt idx="3">
                  <c:v>Low risk</c:v>
                </c:pt>
              </c:strCache>
            </c:strRef>
          </c:cat>
          <c:val>
            <c:numRef>
              <c:f>Sheet1!$B$2:$B$5</c:f>
              <c:numCache>
                <c:formatCode>General</c:formatCode>
                <c:ptCount val="4"/>
                <c:pt idx="0">
                  <c:v>3.29</c:v>
                </c:pt>
                <c:pt idx="1">
                  <c:v>3.77</c:v>
                </c:pt>
                <c:pt idx="2">
                  <c:v>1.99</c:v>
                </c:pt>
                <c:pt idx="3">
                  <c:v>2.11</c:v>
                </c:pt>
              </c:numCache>
            </c:numRef>
          </c:val>
          <c:extLst>
            <c:ext xmlns:c16="http://schemas.microsoft.com/office/drawing/2014/chart" uri="{C3380CC4-5D6E-409C-BE32-E72D297353CC}">
              <c16:uniqueId val="{00000000-0134-451D-8DB0-3DD5C2ACC162}"/>
            </c:ext>
          </c:extLst>
        </c:ser>
        <c:ser>
          <c:idx val="1"/>
          <c:order val="1"/>
          <c:tx>
            <c:strRef>
              <c:f>Sheet1!$C$1</c:f>
              <c:strCache>
                <c:ptCount val="1"/>
                <c:pt idx="0">
                  <c:v>Deaths per 100 accidents</c:v>
                </c:pt>
              </c:strCache>
            </c:strRef>
          </c:tx>
          <c:spPr>
            <a:solidFill>
              <a:srgbClr val="B03A2E"/>
            </a:solidFill>
            <a:effectLst/>
          </c:spPr>
          <c:invertIfNegative val="0"/>
          <c:dLbls>
            <c:numFmt formatCode="0.00" sourceLinked="0"/>
            <c:spPr>
              <a:noFill/>
              <a:ln>
                <a:noFill/>
              </a:ln>
              <a:effectLst/>
            </c:spPr>
            <c:txPr>
              <a:bodyPr/>
              <a:lstStyle/>
              <a:p>
                <a:pPr>
                  <a:defRPr sz="900" b="0" i="0" u="none" strike="noStrike">
                    <a:solidFill>
                      <a:srgbClr val="222222"/>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Dense urban</c:v>
                </c:pt>
                <c:pt idx="1">
                  <c:v>High accident rate</c:v>
                </c:pt>
                <c:pt idx="2">
                  <c:v>High severity</c:v>
                </c:pt>
                <c:pt idx="3">
                  <c:v>Low risk</c:v>
                </c:pt>
              </c:strCache>
            </c:strRef>
          </c:cat>
          <c:val>
            <c:numRef>
              <c:f>Sheet1!$C$2:$C$5</c:f>
              <c:numCache>
                <c:formatCode>General</c:formatCode>
                <c:ptCount val="4"/>
                <c:pt idx="0">
                  <c:v>0.81</c:v>
                </c:pt>
                <c:pt idx="1">
                  <c:v>2.21</c:v>
                </c:pt>
                <c:pt idx="2">
                  <c:v>4.13</c:v>
                </c:pt>
                <c:pt idx="3">
                  <c:v>0</c:v>
                </c:pt>
              </c:numCache>
            </c:numRef>
          </c:val>
          <c:extLst>
            <c:ext xmlns:c16="http://schemas.microsoft.com/office/drawing/2014/chart" uri="{C3380CC4-5D6E-409C-BE32-E72D297353CC}">
              <c16:uniqueId val="{00000001-0134-451D-8DB0-3DD5C2ACC162}"/>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222"/>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66666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1751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company works in road traffic management and wants to know where to invest. I used open data from ISTAT and SITUAS to compare all Italian municipalities.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ISTAT table has no names and no population, so I added them from SITUAS. All the steps are in the notebooks on GitHub.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2020 drop is due to the Covid lockdown. The chart shows the difference between North and South.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 severity group is common in the South, with long roads outside the cities. In seaside towns the accidents are probably caused by tourists, who are not counted in the population.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idea is that each type of municipality needs a different kind of intervention.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548640"/>
          </a:xfrm>
          <a:prstGeom prst="rect">
            <a:avLst/>
          </a:prstGeom>
          <a:noFill/>
          <a:ln/>
        </p:spPr>
        <p:txBody>
          <a:bodyPr wrap="square" rtlCol="0"/>
          <a:lstStyle>
            <a:lvl1pPr marL="0" indent="0" algn="l">
              <a:buNone/>
              <a:defRPr lang="en-US" sz="2600" b="1" dirty="0">
                <a:solidFill>
                  <a:srgbClr val="1F3A5F"/>
                </a:solidFill>
                <a:latin typeface="Calibri" pitchFamily="34" charset="0"/>
                <a:ea typeface="Calibri" pitchFamily="34" charset="-122"/>
                <a:cs typeface="Calibri"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66666"/>
                </a:solidFill>
                <a:latin typeface="Calibri"/>
                <a:ea typeface="Calibri"/>
                <a:cs typeface="Calibri"/>
              </a:defRPr>
            </a:lvl1pPr>
          </a:lstStyle>
          <a:p>
            <a:pPr algn="r"/>
            <a:fld id="{F7021451-1387-4CA6-816F-3879F97B5CBC}" type="slidenum">
              <a:rPr lang="en-US" b="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7863840" cy="914400"/>
          </a:xfrm>
          <a:prstGeom prst="rect">
            <a:avLst/>
          </a:prstGeom>
          <a:noFill/>
          <a:ln/>
        </p:spPr>
        <p:txBody>
          <a:bodyPr wrap="square" rtlCol="0"/>
          <a:lstStyle>
            <a:lvl1pPr marL="0" indent="0" algn="l">
              <a:buNone/>
              <a:defRPr lang="en-US" sz="3600" b="1" dirty="0">
                <a:solidFill>
                  <a:srgbClr val="1F3A5F"/>
                </a:solidFill>
                <a:latin typeface="Calibri" pitchFamily="34" charset="0"/>
                <a:ea typeface="Calibri" pitchFamily="34" charset="-122"/>
                <a:cs typeface="Calibri" pitchFamily="34" charset="-120"/>
              </a:defRPr>
            </a:lvl1pPr>
          </a:lstStyle>
          <a:p>
            <a:pPr marL="0" indent="0" algn="l">
              <a:buNone/>
            </a:pPr>
            <a:endParaRPr lang="en-US" sz="3600" dirty="0"/>
          </a:p>
        </p:txBody>
      </p:sp>
      <p:sp>
        <p:nvSpPr>
          <p:cNvPr id="3" name="Text 0"/>
          <p:cNvSpPr>
            <a:spLocks noGrp="1"/>
          </p:cNvSpPr>
          <p:nvPr>
            <p:ph type="body" idx="101" hasCustomPrompt="1"/>
          </p:nvPr>
        </p:nvSpPr>
        <p:spPr>
          <a:xfrm>
            <a:off x="640080" y="2377440"/>
            <a:ext cx="7863840" cy="914400"/>
          </a:xfrm>
          <a:prstGeom prst="rect">
            <a:avLst/>
          </a:prstGeom>
          <a:noFill/>
          <a:ln/>
        </p:spPr>
        <p:txBody>
          <a:bodyPr wrap="square" rtlCol="0"/>
          <a:lstStyle>
            <a:lvl1pPr marL="0" indent="0" algn="l">
              <a:buNone/>
              <a:defRPr lang="en-US" sz="1800" dirty="0">
                <a:solidFill>
                  <a:srgbClr val="222222"/>
                </a:solidFill>
                <a:latin typeface="Calibri" pitchFamily="34" charset="0"/>
                <a:ea typeface="Calibri" pitchFamily="34" charset="-122"/>
                <a:cs typeface="Calibri" pitchFamily="34" charset="-120"/>
              </a:defRPr>
            </a:lvl1pPr>
          </a:lstStyle>
          <a:p>
            <a:pPr marL="0" indent="0" algn="l">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66666"/>
                </a:solidFill>
                <a:latin typeface="Calibri"/>
                <a:ea typeface="Calibri"/>
                <a:cs typeface="Calibri"/>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7863840" cy="914400"/>
          </a:xfrm>
          <a:prstGeom prst="rect">
            <a:avLst/>
          </a:prstGeom>
          <a:noFill/>
          <a:ln/>
        </p:spPr>
        <p:txBody>
          <a:bodyPr wrap="square" lIns="0" tIns="0" rIns="0" bIns="0" rtlCol="0" anchor="b"/>
          <a:lstStyle/>
          <a:p>
            <a:pPr marL="0" indent="0" algn="l">
              <a:buNone/>
            </a:pPr>
            <a:r>
              <a:rPr lang="en-US" sz="3600" b="1" dirty="0">
                <a:solidFill>
                  <a:schemeClr val="bg1"/>
                </a:solidFill>
                <a:latin typeface="Calibri" pitchFamily="34" charset="0"/>
                <a:ea typeface="Calibri" pitchFamily="34" charset="-122"/>
                <a:cs typeface="Calibri" pitchFamily="34" charset="-120"/>
              </a:rPr>
              <a:t>Road accidents in Italy</a:t>
            </a:r>
            <a:endParaRPr lang="en-US" sz="3600" dirty="0">
              <a:solidFill>
                <a:schemeClr val="bg1"/>
              </a:solidFill>
            </a:endParaRPr>
          </a:p>
        </p:txBody>
      </p:sp>
      <p:sp>
        <p:nvSpPr>
          <p:cNvPr id="3" name="Text 0"/>
          <p:cNvSpPr>
            <a:spLocks noGrp="1"/>
          </p:cNvSpPr>
          <p:nvPr>
            <p:ph type="body" idx="101" hasCustomPrompt="1"/>
          </p:nvPr>
        </p:nvSpPr>
        <p:spPr>
          <a:xfrm>
            <a:off x="640080" y="2377440"/>
            <a:ext cx="7863840" cy="914400"/>
          </a:xfrm>
          <a:prstGeom prst="rect">
            <a:avLst/>
          </a:prstGeom>
          <a:noFill/>
          <a:ln/>
        </p:spPr>
        <p:txBody>
          <a:bodyPr wrap="square" lIns="0" tIns="0" rIns="0" bIns="0" rtlCol="0" anchor="t"/>
          <a:lstStyle/>
          <a:p>
            <a:pPr marL="0" indent="0" algn="l">
              <a:buNone/>
            </a:pPr>
            <a:r>
              <a:rPr lang="en-US" sz="1800" dirty="0">
                <a:solidFill>
                  <a:schemeClr val="bg1">
                    <a:lumMod val="65000"/>
                  </a:schemeClr>
                </a:solidFill>
                <a:latin typeface="Calibri" pitchFamily="34" charset="0"/>
                <a:ea typeface="Calibri" pitchFamily="34" charset="-122"/>
                <a:cs typeface="Calibri" pitchFamily="34" charset="-120"/>
              </a:rPr>
              <a:t>Data Analytics Project: which municipalities should a road safety company invest in?</a:t>
            </a:r>
            <a:endParaRPr lang="en-US" sz="1800" dirty="0">
              <a:solidFill>
                <a:schemeClr val="bg1">
                  <a:lumMod val="65000"/>
                </a:schemeClr>
              </a:solidFill>
            </a:endParaRPr>
          </a:p>
        </p:txBody>
      </p:sp>
      <p:sp>
        <p:nvSpPr>
          <p:cNvPr id="4" name="Text 2"/>
          <p:cNvSpPr txBox="1"/>
          <p:nvPr/>
        </p:nvSpPr>
        <p:spPr>
          <a:xfrm>
            <a:off x="640080" y="4206240"/>
            <a:ext cx="7863840" cy="274320"/>
          </a:xfrm>
          <a:prstGeom prst="rect">
            <a:avLst/>
          </a:prstGeom>
          <a:noFill/>
          <a:ln/>
        </p:spPr>
        <p:txBody>
          <a:bodyPr wrap="square" lIns="0" tIns="0" rIns="0" bIns="0" rtlCol="0" anchor="ctr"/>
          <a:lstStyle/>
          <a:p>
            <a:pPr marL="0" indent="0">
              <a:buNone/>
            </a:pPr>
            <a:r>
              <a:rPr lang="en-US" sz="1200" dirty="0">
                <a:solidFill>
                  <a:schemeClr val="tx1">
                    <a:lumMod val="50000"/>
                    <a:lumOff val="50000"/>
                  </a:schemeClr>
                </a:solidFill>
                <a:latin typeface="Calibri" pitchFamily="34" charset="0"/>
                <a:ea typeface="Calibri" pitchFamily="34" charset="-122"/>
                <a:cs typeface="Calibri" pitchFamily="34" charset="-120"/>
              </a:rPr>
              <a:t>Simone Riccio  ·  Data: ISTAT, SITUAS</a:t>
            </a:r>
            <a:endParaRPr lang="en-US" sz="1200" dirty="0">
              <a:solidFill>
                <a:schemeClr val="tx1">
                  <a:lumMod val="50000"/>
                  <a:lumOff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548640"/>
          </a:xfrm>
          <a:prstGeom prst="rect">
            <a:avLst/>
          </a:prstGeom>
          <a:noFill/>
          <a:ln/>
        </p:spPr>
        <p:txBody>
          <a:bodyPr wrap="square" lIns="0" tIns="0" rIns="0" bIns="0" rtlCol="0" anchor="ctr"/>
          <a:lstStyle/>
          <a:p>
            <a:pPr marL="0" indent="0" algn="l">
              <a:buNone/>
            </a:pPr>
            <a:r>
              <a:rPr lang="en-US" sz="2600" b="1" dirty="0">
                <a:solidFill>
                  <a:srgbClr val="1F3A5F"/>
                </a:solidFill>
                <a:latin typeface="Calibri" pitchFamily="34" charset="0"/>
                <a:ea typeface="Calibri" pitchFamily="34" charset="-122"/>
                <a:cs typeface="Calibri" pitchFamily="34" charset="-120"/>
              </a:rPr>
              <a:t>1. Data collection and cleaning</a:t>
            </a:r>
            <a:endParaRPr lang="en-US" sz="2600" dirty="0"/>
          </a:p>
        </p:txBody>
      </p:sp>
      <p:sp>
        <p:nvSpPr>
          <p:cNvPr id="3" name="Text 1"/>
          <p:cNvSpPr txBox="1"/>
          <p:nvPr/>
        </p:nvSpPr>
        <p:spPr>
          <a:xfrm>
            <a:off x="457200" y="1051560"/>
            <a:ext cx="8229600" cy="34747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Accidents, injured and deaths for every municipality were downloaded from the ISTAT API (2001-2024). There was a problem downloading the data from ISTAT; it doesn’t work during the weekend (maybe too much call), we have to waited until the mid of the week.</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Population and area of each municipality were taken by web scraping the SITUAS website (data for 2023).</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We joined the two sources with the municipality code: 7,900 of 7,901 municipalities matched. The missing one was abolished in 2023.</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We used the average of 2022 and 2023 and created three indicators: accidents per 1,000 inhabitants, accidents per km² and deaths per 100 accidents.</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We kept only the 2,180 municipalities with at least 10 accidents per year, because in very small towns one accident changes the numbers too much.</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66666"/>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548640"/>
          </a:xfrm>
          <a:prstGeom prst="rect">
            <a:avLst/>
          </a:prstGeom>
          <a:noFill/>
          <a:ln/>
        </p:spPr>
        <p:txBody>
          <a:bodyPr wrap="square" lIns="0" tIns="0" rIns="0" bIns="0" rtlCol="0" anchor="ctr"/>
          <a:lstStyle/>
          <a:p>
            <a:pPr marL="0" indent="0" algn="l">
              <a:buNone/>
            </a:pPr>
            <a:r>
              <a:rPr lang="en-US" sz="2600" b="1" dirty="0">
                <a:solidFill>
                  <a:srgbClr val="1F3A5F"/>
                </a:solidFill>
                <a:latin typeface="Calibri" pitchFamily="34" charset="0"/>
                <a:ea typeface="Calibri" pitchFamily="34" charset="-122"/>
                <a:cs typeface="Calibri" pitchFamily="34" charset="-120"/>
              </a:rPr>
              <a:t>2. Exploratory analysis</a:t>
            </a:r>
            <a:endParaRPr lang="en-US" sz="2600" dirty="0"/>
          </a:p>
        </p:txBody>
      </p:sp>
      <p:sp>
        <p:nvSpPr>
          <p:cNvPr id="3" name="Text 1"/>
          <p:cNvSpPr txBox="1"/>
          <p:nvPr/>
        </p:nvSpPr>
        <p:spPr>
          <a:xfrm>
            <a:off x="457200" y="1051560"/>
            <a:ext cx="3657600" cy="34747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From 2001 to 2023 accidents fell by 37% and deaths by 57%.</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Since 2013 the numbers have stopped improving.</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The Centre and the North have more accidents per inhabitant.</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The South and the Islands have fewer accidents, but they are more serious.</a:t>
            </a:r>
            <a:endParaRPr lang="en-US" sz="1500" dirty="0"/>
          </a:p>
        </p:txBody>
      </p:sp>
      <p:graphicFrame>
        <p:nvGraphicFramePr>
          <p:cNvPr id="4" name="Chart 0"/>
          <p:cNvGraphicFramePr/>
          <p:nvPr/>
        </p:nvGraphicFramePr>
        <p:xfrm>
          <a:off x="4297680" y="1005840"/>
          <a:ext cx="4389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66666"/>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548640"/>
          </a:xfrm>
          <a:prstGeom prst="rect">
            <a:avLst/>
          </a:prstGeom>
          <a:noFill/>
          <a:ln/>
        </p:spPr>
        <p:txBody>
          <a:bodyPr wrap="square" lIns="0" tIns="0" rIns="0" bIns="0" rtlCol="0" anchor="ctr"/>
          <a:lstStyle/>
          <a:p>
            <a:pPr marL="0" indent="0" algn="l">
              <a:buNone/>
            </a:pPr>
            <a:r>
              <a:rPr lang="en-US" sz="2600" b="1" dirty="0">
                <a:solidFill>
                  <a:srgbClr val="1F3A5F"/>
                </a:solidFill>
                <a:latin typeface="Calibri" pitchFamily="34" charset="0"/>
                <a:ea typeface="Calibri" pitchFamily="34" charset="-122"/>
                <a:cs typeface="Calibri" pitchFamily="34" charset="-120"/>
              </a:rPr>
              <a:t>3. Clustering, hypothesis test and regression</a:t>
            </a:r>
            <a:endParaRPr lang="en-US" sz="2600" dirty="0"/>
          </a:p>
        </p:txBody>
      </p:sp>
      <p:graphicFrame>
        <p:nvGraphicFramePr>
          <p:cNvPr id="3" name="Chart 0"/>
          <p:cNvGraphicFramePr/>
          <p:nvPr/>
        </p:nvGraphicFramePr>
        <p:xfrm>
          <a:off x="365760" y="1005840"/>
          <a:ext cx="42062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4754880" y="868680"/>
            <a:ext cx="3931920" cy="411480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222222"/>
                </a:solidFill>
                <a:latin typeface="Calibri" pitchFamily="34" charset="0"/>
                <a:ea typeface="Calibri" pitchFamily="34" charset="-122"/>
                <a:cs typeface="Calibri" pitchFamily="34" charset="-120"/>
              </a:rPr>
              <a:t>The clustering analysis (K-means) showed the elbow (value of K) between 3 and 4. We’ve chosen K=4 because the following K value were too similar.                                                                          So we split the municipalities into 4 groups: dense urban areas, high accident rate, high severity and low risk.</a:t>
            </a:r>
            <a:endParaRPr lang="en-US" sz="1400" dirty="0"/>
          </a:p>
          <a:p>
            <a:pPr marL="342900" indent="-342900">
              <a:spcAft>
                <a:spcPts val="800"/>
              </a:spcAft>
              <a:buSzPct val="100000"/>
              <a:buChar char="•"/>
            </a:pPr>
            <a:r>
              <a:rPr lang="en-US" sz="1400">
                <a:solidFill>
                  <a:srgbClr val="222222"/>
                </a:solidFill>
                <a:latin typeface="Calibri" pitchFamily="34" charset="0"/>
                <a:ea typeface="Calibri" pitchFamily="34" charset="-122"/>
                <a:cs typeface="Calibri" pitchFamily="34" charset="-120"/>
              </a:rPr>
              <a:t>W</a:t>
            </a:r>
            <a:r>
              <a:rPr lang="en-US" sz="1400" dirty="0">
                <a:solidFill>
                  <a:srgbClr val="222222"/>
                </a:solidFill>
                <a:latin typeface="Calibri" pitchFamily="34" charset="0"/>
                <a:ea typeface="Calibri" pitchFamily="34" charset="-122"/>
                <a:cs typeface="Calibri" pitchFamily="34" charset="-120"/>
              </a:rPr>
              <a:t>e</a:t>
            </a:r>
            <a:r>
              <a:rPr lang="en-US" sz="1400">
                <a:solidFill>
                  <a:srgbClr val="222222"/>
                </a:solidFill>
                <a:latin typeface="Calibri" pitchFamily="34" charset="0"/>
                <a:ea typeface="Calibri" pitchFamily="34" charset="-122"/>
                <a:cs typeface="Calibri" pitchFamily="34" charset="-120"/>
              </a:rPr>
              <a:t> </a:t>
            </a:r>
            <a:r>
              <a:rPr lang="en-US" sz="1400" dirty="0">
                <a:solidFill>
                  <a:srgbClr val="222222"/>
                </a:solidFill>
                <a:latin typeface="Calibri" pitchFamily="34" charset="0"/>
                <a:ea typeface="Calibri" pitchFamily="34" charset="-122"/>
                <a:cs typeface="Calibri" pitchFamily="34" charset="-120"/>
              </a:rPr>
              <a:t>used Mann-Whitney test instead of T-test, because it’s not a normal distribution and there are many outliers.                                                   Provincial capitals have more accidents per inhabitant than other towns (p &lt; 0.0001), but less serious ones.</a:t>
            </a:r>
            <a:endParaRPr lang="en-US" sz="1400" dirty="0"/>
          </a:p>
          <a:p>
            <a:pPr marL="342900" indent="-342900">
              <a:spcAft>
                <a:spcPts val="800"/>
              </a:spcAft>
              <a:buSzPct val="100000"/>
              <a:buChar char="•"/>
            </a:pPr>
            <a:r>
              <a:rPr lang="en-US" sz="1400" dirty="0">
                <a:solidFill>
                  <a:srgbClr val="222222"/>
                </a:solidFill>
                <a:latin typeface="Calibri" pitchFamily="34" charset="0"/>
                <a:ea typeface="Calibri" pitchFamily="34" charset="-122"/>
                <a:cs typeface="Calibri" pitchFamily="34" charset="-120"/>
              </a:rPr>
              <a:t>Regression: it explains 29% of the differences. Some towns have many more accidents than expected, mostly seaside municipalities (Forte dei Marmi: 6.5 times) and logistics or shopping areas.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66666"/>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548640"/>
          </a:xfrm>
          <a:prstGeom prst="rect">
            <a:avLst/>
          </a:prstGeom>
          <a:noFill/>
          <a:ln/>
        </p:spPr>
        <p:txBody>
          <a:bodyPr wrap="square" lIns="0" tIns="0" rIns="0" bIns="0" rtlCol="0" anchor="ctr"/>
          <a:lstStyle/>
          <a:p>
            <a:pPr marL="0" indent="0" algn="l">
              <a:buNone/>
            </a:pPr>
            <a:r>
              <a:rPr lang="en-US" sz="2600" b="1" dirty="0">
                <a:solidFill>
                  <a:srgbClr val="1F3A5F"/>
                </a:solidFill>
                <a:latin typeface="Calibri" pitchFamily="34" charset="0"/>
                <a:ea typeface="Calibri" pitchFamily="34" charset="-122"/>
                <a:cs typeface="Calibri" pitchFamily="34" charset="-120"/>
              </a:rPr>
              <a:t>4. Conclusions</a:t>
            </a:r>
            <a:endParaRPr lang="en-US" sz="2600" dirty="0"/>
          </a:p>
        </p:txBody>
      </p:sp>
      <p:sp>
        <p:nvSpPr>
          <p:cNvPr id="3" name="Text 1"/>
          <p:cNvSpPr txBox="1"/>
          <p:nvPr/>
        </p:nvSpPr>
        <p:spPr>
          <a:xfrm>
            <a:off x="457200" y="1051560"/>
            <a:ext cx="8229600" cy="34747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Big cities (for example Bergamo, Florence, Genoa): many accidents. Possible actions: 30 km/h zones, safer crossings and cycle lanes.</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Towns with serious accidents, mostly in the South: speed checks, roundabouts, barriers and better lighting.</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Seaside resorts and commercial areas: summer controls and traffic plans for visitors.</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All the results can be explored in the Power BI dashboard, filtering by region and cluster.</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Limits and next steps: add data on tourists and on road types to improve the model.</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66666"/>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Simple">
  <a:themeElements>
    <a:clrScheme name="Simple">
      <a:dk1>
        <a:srgbClr val="222222"/>
      </a:dk1>
      <a:lt1>
        <a:srgbClr val="FFFFFF"/>
      </a:lt1>
      <a:dk2>
        <a:srgbClr val="1F3A5F"/>
      </a:dk2>
      <a:lt2>
        <a:srgbClr val="F2F2F2"/>
      </a:lt2>
      <a:accent1>
        <a:srgbClr val="1F3A5F"/>
      </a:accent1>
      <a:accent2>
        <a:srgbClr val="B03A2E"/>
      </a:accent2>
      <a:accent3>
        <a:srgbClr val="7FA7D9"/>
      </a:accent3>
      <a:accent4>
        <a:srgbClr val="D62728"/>
      </a:accent4>
      <a:accent5>
        <a:srgbClr val="FF7F0E"/>
      </a:accent5>
      <a:accent6>
        <a:srgbClr val="9467BD"/>
      </a:accent6>
      <a:hlink>
        <a:srgbClr val="1F3A5F"/>
      </a:hlink>
      <a:folHlink>
        <a:srgbClr val="666666"/>
      </a:folHlink>
    </a:clrScheme>
    <a:fontScheme name="Simpl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1413</TotalTime>
  <Words>625</Words>
  <Application>Microsoft Office PowerPoint</Application>
  <PresentationFormat>Presentazione su schermo (16:9)</PresentationFormat>
  <Paragraphs>40</Paragraphs>
  <Slides>5</Slides>
  <Notes>5</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5</vt:i4>
      </vt:variant>
    </vt:vector>
  </HeadingPairs>
  <TitlesOfParts>
    <vt:vector size="8" baseType="lpstr">
      <vt:lpstr>Arial</vt:lpstr>
      <vt:lpstr>Calibri</vt:lpstr>
      <vt:lpstr>Simple</vt:lpstr>
      <vt:lpstr>Road accidents in Italy</vt:lpstr>
      <vt:lpstr>1. Data collection and cleaning</vt:lpstr>
      <vt:lpstr>2. Exploratory analysis</vt:lpstr>
      <vt:lpstr>3. Clustering, hypothesis test and regression</vt:lpstr>
      <vt:lpstr>4. Conclusions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 accidents in Italy</dc:title>
  <dc:subject>PptxGenJS Presentation</dc:subject>
  <dc:creator>Simone Riccio</dc:creator>
  <cp:lastModifiedBy>Simone Riccio</cp:lastModifiedBy>
  <cp:revision>1</cp:revision>
  <dcterms:created xsi:type="dcterms:W3CDTF">2026-10-16T16:51:06Z</dcterms:created>
  <dcterms:modified xsi:type="dcterms:W3CDTF">2026-10-17T16:25:38Z</dcterms:modified>
</cp:coreProperties>
</file>